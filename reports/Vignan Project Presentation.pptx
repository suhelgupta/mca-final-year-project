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1"/>
  </p:sldMasterIdLst>
  <p:sldIdLst>
    <p:sldId id="257" r:id="rId2"/>
    <p:sldId id="258" r:id="rId3"/>
    <p:sldId id="260" r:id="rId4"/>
    <p:sldId id="262" r:id="rId5"/>
    <p:sldId id="261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4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619B-EAF2-7614-DA87-A287A0B8D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D8BD1-42DE-1CF8-F368-AF4618A38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7EB4C-CA38-2E04-30AB-7C71E42E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1A83-09C1-4407-B4DE-1FA458754FC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827C0-0019-149A-9A8B-862DEB42B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DD42D-F4A0-2838-7431-AB1599D0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7FB9-02F5-4411-A4C0-E847B71E4A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313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00BF-A05F-5B23-DEFB-8654E7066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E4607-5574-C53D-C0DD-81B45C6E2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97B5F-5458-9B5D-6232-8096D32D8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1A83-09C1-4407-B4DE-1FA458754FC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3FAFB-6534-F055-0E6E-A270B5F7A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0368F-4A68-E208-3998-60A37F3C2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7FB9-02F5-4411-A4C0-E847B71E4A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701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036ED-2142-086E-0FDC-2143A9614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F65F-4170-624C-432B-A6821C875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39520-69B1-9CE7-15DF-B2137FB32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1A83-09C1-4407-B4DE-1FA458754FC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7A7C0-2F18-424D-241A-E28EF293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A24F9-C6B6-9522-6F9D-49FBD6F4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7FB9-02F5-4411-A4C0-E847B71E4A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30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D7713-7A60-30BF-AE7C-E33DABFD5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6B8E5-673D-A642-3170-4D7141D075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05613-5F25-E490-94F6-C4E0B055D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C8BEE-BAAB-B5F2-1371-69ADDCD7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1A83-09C1-4407-B4DE-1FA458754FC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A5AD0-F373-3485-3F36-2A5F93F1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103E0-41F3-78DA-2410-DBFAB498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7FB9-02F5-4411-A4C0-E847B71E4A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033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AB9D8-6623-8C0B-3A53-F4DEBC419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DBDA0-B937-CD10-FA30-7B776407A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1B17D-4E19-6620-BC6D-4B62E068E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856FA7-6E2A-6EA2-F600-652B58CD3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217FC7-E97D-0F54-0420-05E567B98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95BA7C-F32B-EBFC-33CA-996CFA114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1A83-09C1-4407-B4DE-1FA458754FC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1AA24D-9321-F09F-E1E6-A76D9F0CA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3340A7-A43A-0512-2D21-23EBD432C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7FB9-02F5-4411-A4C0-E847B71E4A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230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EF5BC-693D-286B-CE2D-B541BEEC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40C9E3-89FD-8A00-99E8-6241C55F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1A83-09C1-4407-B4DE-1FA458754FC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C1455-FE82-78EC-B713-5110846E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7F8CA-F254-1ECC-6E1F-94DDA356C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7FB9-02F5-4411-A4C0-E847B71E4A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85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7C36A-7A39-157D-A2A1-C6E330328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1A83-09C1-4407-B4DE-1FA458754FC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02517-DC69-51F3-49D1-2FA943837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B0358-0BC7-8DA4-14B2-675312ECB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7FB9-02F5-4411-A4C0-E847B71E4A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22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EAFE1-1D7B-5938-063C-244528310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C07E3-3655-C942-4049-27A382D83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EC18C-F7EE-D734-00D1-B7E30FB67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1AE91-5818-D890-DC98-95443A58B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1A83-09C1-4407-B4DE-1FA458754FC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0AEC9-F5CF-01FE-9504-3EAFB369B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82489-38CA-BC4F-CE7B-F061FC21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7FB9-02F5-4411-A4C0-E847B71E4A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623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398-E651-6DA5-1443-B53A6BB09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676E00-EC33-5B73-0EAB-27C0EFB32E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521CC9-9F88-F1CF-D25E-E8C461A0E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4F211-2150-1BD1-A3F9-8B7427D98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1A83-09C1-4407-B4DE-1FA458754FC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6FA5E-039D-5E69-4328-B259C064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7A0D7-3779-933B-88A6-DD6C5607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7FB9-02F5-4411-A4C0-E847B71E4A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65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EBF0-9F13-8192-16B1-0665EE375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217DD-D937-8FCD-7C36-57EEECFF9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3426A-F588-597F-6F65-4BD7A3ABB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1A83-09C1-4407-B4DE-1FA458754FC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261F0-6BA3-1B3A-94B9-17A9F356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6774D-4883-296A-0E46-6F029E4C8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7FB9-02F5-4411-A4C0-E847B71E4A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065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04860-47E3-E98B-68C0-4C4EB6CDF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980578-04C0-BEDF-C2C7-C48CB164D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04C07-63EB-C58B-7699-B9B5126DB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1A83-09C1-4407-B4DE-1FA458754FC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31EEB-12CF-FCA9-11FA-5F3A5F39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8FCF0-2EF4-7048-2E71-3D27FF99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7FB9-02F5-4411-A4C0-E847B71E4A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430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F221CC-959A-6086-0F10-E370952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923E4-E3C6-4258-4E42-C076FF9FA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F0708-552B-3EAE-A271-00B95D9EA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AB1A83-09C1-4407-B4DE-1FA458754FC7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8A567-D207-3DE0-773A-1C995598B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A5251-A53C-9961-473B-2DB0E0624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997FB9-02F5-4411-A4C0-E847B71E4A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14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mart-job-tracker-api-w44d.onrender.com/api-docs/#/" TargetMode="External"/><Relationship Id="rId2" Type="http://schemas.openxmlformats.org/officeDocument/2006/relationships/hyperlink" Target="https://job-tracker-app-kohl-six.vercel.app/login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3A441-A7F7-7278-3A64-D8F78BA5BB15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Title</a:t>
            </a:r>
            <a:endParaRPr lang="en-US" sz="6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074634-C314-F08D-1997-8CD283B71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707574"/>
              </p:ext>
            </p:extLst>
          </p:nvPr>
        </p:nvGraphicFramePr>
        <p:xfrm>
          <a:off x="1463065" y="2633472"/>
          <a:ext cx="9262823" cy="3653287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3189917">
                  <a:extLst>
                    <a:ext uri="{9D8B030D-6E8A-4147-A177-3AD203B41FA5}">
                      <a16:colId xmlns:a16="http://schemas.microsoft.com/office/drawing/2014/main" val="2226835135"/>
                    </a:ext>
                  </a:extLst>
                </a:gridCol>
                <a:gridCol w="6072906">
                  <a:extLst>
                    <a:ext uri="{9D8B030D-6E8A-4147-A177-3AD203B41FA5}">
                      <a16:colId xmlns:a16="http://schemas.microsoft.com/office/drawing/2014/main" val="200469316"/>
                    </a:ext>
                  </a:extLst>
                </a:gridCol>
              </a:tblGrid>
              <a:tr h="87535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500" b="1" kern="100" cap="all" spc="60">
                          <a:solidFill>
                            <a:schemeClr val="tx1"/>
                          </a:solidFill>
                          <a:effectLst/>
                        </a:rPr>
                        <a:t>Name -</a:t>
                      </a:r>
                      <a:endParaRPr lang="en-IN" sz="2500" b="1" kern="100" cap="all" spc="6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847" marR="121847" marT="162463" marB="16246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500" b="0" kern="100" cap="all" spc="6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Suhel Kumar Gupta</a:t>
                      </a:r>
                    </a:p>
                  </a:txBody>
                  <a:tcPr marL="121847" marR="121847" marT="162463" marB="16246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155020"/>
                  </a:ext>
                </a:extLst>
              </a:tr>
              <a:tr h="71289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500" b="1" kern="100" cap="none" spc="0">
                          <a:solidFill>
                            <a:schemeClr val="tx1"/>
                          </a:solidFill>
                          <a:effectLst/>
                        </a:rPr>
                        <a:t>USN -</a:t>
                      </a:r>
                      <a:endParaRPr lang="en-IN" sz="2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847" marR="121847" marT="0" marB="162463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5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241DD01340</a:t>
                      </a:r>
                      <a:endParaRPr lang="en-IN" sz="25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847" marR="121847" marT="0" marB="1624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331670"/>
                  </a:ext>
                </a:extLst>
              </a:tr>
              <a:tr h="71289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500" b="1" kern="100" cap="none" spc="0">
                          <a:solidFill>
                            <a:schemeClr val="tx1"/>
                          </a:solidFill>
                          <a:effectLst/>
                        </a:rPr>
                        <a:t>Elective -</a:t>
                      </a:r>
                      <a:endParaRPr lang="en-IN" sz="2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847" marR="121847" marT="0" marB="1624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5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Computer Science and IT</a:t>
                      </a:r>
                      <a:endParaRPr lang="en-IN" sz="25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847" marR="121847" marT="0" marB="1624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35657"/>
                  </a:ext>
                </a:extLst>
              </a:tr>
              <a:tr h="128520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500" b="1" kern="100" cap="none" spc="0">
                          <a:solidFill>
                            <a:schemeClr val="tx1"/>
                          </a:solidFill>
                          <a:effectLst/>
                        </a:rPr>
                        <a:t>Title of the Project -</a:t>
                      </a:r>
                      <a:endParaRPr lang="en-IN" sz="2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847" marR="121847" marT="0" marB="162463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Personal Desktop Assistant with Voice 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5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Recognition and Smart Features</a:t>
                      </a:r>
                      <a:endParaRPr lang="en-IN" sz="25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847" marR="121847" marT="0" marB="16246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555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147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A69DF-3B62-9193-C408-F4C466363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Introduction</a:t>
            </a:r>
            <a:endParaRPr lang="en-IN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C6C345D-ED61-4E0A-A7F2-5FA338CE2E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7650" y="1806553"/>
            <a:ext cx="11430000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Digital assistants transform how users interact with technology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voice and natural language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Existing systems (Google Assistant, Siri, Alexa, Cortana)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consumer-focused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 with limited desktop integration.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Challenges: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Fragmented workflows across multiple apps.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Lack of academic extensibility in proprietary systems.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The proposed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Optima Assistant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 is a Python-based, modular, and extensible prototype designed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academic research and real-world productivity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Key advanced features: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Face recognition authentication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 for secure login.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Email and WhatsApp automation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 for communication tasks.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PC control via hand gestures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MediaPipe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PyAutoGUI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 (Headings)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151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EFECD-BFF3-A39B-32A2-750E4DAA0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5A6AC0-29A0-9A33-0C73-0D4CEB3CC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27AA6-60B8-74B2-18CA-5007511EF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Objectives</a:t>
            </a:r>
            <a:endParaRPr lang="en-IN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C01717D0-672F-A41C-28AF-1DF0ACC8E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AF8309-F8D3-A3B8-960C-3FC453B3A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b="1" dirty="0"/>
              <a:t>Develop a secure assistant</a:t>
            </a:r>
            <a:r>
              <a:rPr lang="en-US" sz="1900" dirty="0"/>
              <a:t> with </a:t>
            </a:r>
            <a:r>
              <a:rPr lang="en-US" sz="1900" b="1" dirty="0"/>
              <a:t>face recognition authentication</a:t>
            </a:r>
            <a:r>
              <a:rPr lang="en-US" sz="1900" dirty="0"/>
              <a:t> for user login.</a:t>
            </a:r>
          </a:p>
          <a:p>
            <a:r>
              <a:rPr lang="en-US" sz="1900" b="1" dirty="0"/>
              <a:t>Enable voice-controlled productivity</a:t>
            </a:r>
            <a:r>
              <a:rPr lang="en-US" sz="1900" dirty="0"/>
              <a:t> by integrating reminders, news, and Wikipedia search.</a:t>
            </a:r>
          </a:p>
          <a:p>
            <a:r>
              <a:rPr lang="en-US" sz="1900" b="1" dirty="0"/>
              <a:t>Automate communication tasks</a:t>
            </a:r>
            <a:r>
              <a:rPr lang="en-US" sz="1900" dirty="0"/>
              <a:t> through </a:t>
            </a:r>
            <a:r>
              <a:rPr lang="en-US" sz="1900" b="1" dirty="0"/>
              <a:t>email and WhatsApp integration</a:t>
            </a:r>
            <a:r>
              <a:rPr lang="en-US" sz="1900" dirty="0"/>
              <a:t>.</a:t>
            </a:r>
          </a:p>
          <a:p>
            <a:r>
              <a:rPr lang="en-US" sz="1900" b="1" dirty="0"/>
              <a:t>Provide system-level control</a:t>
            </a:r>
            <a:r>
              <a:rPr lang="en-US" sz="1900" dirty="0"/>
              <a:t> with features like file management, system monitoring, and PDF reading.</a:t>
            </a:r>
          </a:p>
          <a:p>
            <a:r>
              <a:rPr lang="en-US" sz="1900" b="1" dirty="0"/>
              <a:t>Introduce gesture-based PC control</a:t>
            </a:r>
            <a:r>
              <a:rPr lang="en-US" sz="1900" dirty="0"/>
              <a:t> using </a:t>
            </a:r>
            <a:r>
              <a:rPr lang="en-US" sz="1900" b="1" dirty="0" err="1"/>
              <a:t>MediaPipe</a:t>
            </a:r>
            <a:r>
              <a:rPr lang="en-US" sz="1900" b="1" dirty="0"/>
              <a:t> + </a:t>
            </a:r>
            <a:r>
              <a:rPr lang="en-US" sz="1900" b="1" dirty="0" err="1"/>
              <a:t>PyAutoGUI</a:t>
            </a:r>
            <a:r>
              <a:rPr lang="en-US" sz="1900" dirty="0"/>
              <a:t> for mouse movements and clicks.</a:t>
            </a:r>
          </a:p>
          <a:p>
            <a:r>
              <a:rPr lang="en-US" sz="1900" b="1" dirty="0"/>
              <a:t>Design a modular, extensible architecture</a:t>
            </a:r>
            <a:r>
              <a:rPr lang="en-US" sz="1900" dirty="0"/>
              <a:t> that allows future academic and research enhancements.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024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A7451-13AD-EF6F-61ED-E3C05783E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44A3F84-83E3-CAA3-E503-6387235E9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6BBCD9-B324-D1DA-643C-DEFF5A2E5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Objectives</a:t>
            </a:r>
            <a:endParaRPr lang="en-IN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D178B7E-336F-6F35-14BD-892EF45C4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B0987-FDF1-8919-4532-FE7A35A93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dirty="0"/>
              <a:t>To automate job-detail capture from job portals.</a:t>
            </a:r>
          </a:p>
          <a:p>
            <a:r>
              <a:rPr lang="en-US" dirty="0"/>
              <a:t>To reduce manual effort in maintaining job application records.</a:t>
            </a:r>
          </a:p>
          <a:p>
            <a:r>
              <a:rPr lang="en-US" dirty="0"/>
              <a:t>To provide a centralized dashboard for tracking status, follow-ups, and insights.</a:t>
            </a:r>
          </a:p>
          <a:p>
            <a:r>
              <a:rPr lang="en-US" dirty="0"/>
              <a:t>To improve accuracy, speed, and usability in the job application process.</a:t>
            </a:r>
          </a:p>
          <a:p>
            <a:r>
              <a:rPr lang="en-US" dirty="0"/>
              <a:t>To ensure secure handling of user-specific job data.</a:t>
            </a:r>
          </a:p>
        </p:txBody>
      </p:sp>
    </p:spTree>
    <p:extLst>
      <p:ext uri="{BB962C8B-B14F-4D97-AF65-F5344CB8AC3E}">
        <p14:creationId xmlns:p14="http://schemas.microsoft.com/office/powerpoint/2010/main" val="1702872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AC8C82-CDD6-1FFB-68A7-FDC093976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338ADA-9AF1-7C2E-BC9E-20DBD938A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CCD97A-67DC-5371-CC2B-1228C5A55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Autofit/>
          </a:bodyPr>
          <a:lstStyle/>
          <a:p>
            <a:pPr algn="ctr"/>
            <a:r>
              <a:rPr lang="en-IN" sz="4000" dirty="0"/>
              <a:t>Real-Time </a:t>
            </a:r>
            <a:r>
              <a:rPr lang="en-IN" dirty="0"/>
              <a:t>Dashboard</a:t>
            </a:r>
            <a:r>
              <a:rPr lang="en-IN" sz="4000" dirty="0"/>
              <a:t> View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1AD0C756-418B-5AD2-14AD-34B52BE0B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705B99-17F2-8B1C-E057-08C030730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036" y="1943884"/>
            <a:ext cx="10684764" cy="465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259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E0FC9-8B24-EA5C-7514-E713D777C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3D9EF0A-DD4F-5D99-F4E0-938985DB0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6625A-7FE1-8BD5-10FB-EB5749CA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Why this project was done</a:t>
            </a:r>
            <a:endParaRPr lang="en-IN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214BB4B2-EFDB-C428-D8E8-E2316D61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E792F-178D-BC14-EC56-71402CB3E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Many candidates forget where they applied, when they applied, and what the current status is.</a:t>
            </a:r>
          </a:p>
          <a:p>
            <a:r>
              <a:rPr lang="en-US" dirty="0"/>
              <a:t>Manual tracking in Excel or notes is inefficient and discourages consistent follow-up.</a:t>
            </a:r>
          </a:p>
          <a:p>
            <a:r>
              <a:rPr lang="en-US" dirty="0"/>
              <a:t>Existing solutions are either generic or do not integrate directly with job portals.</a:t>
            </a:r>
          </a:p>
          <a:p>
            <a:r>
              <a:rPr lang="en-US" dirty="0"/>
              <a:t>This project was created to remove the administrative burden and make job tracking effortless.</a:t>
            </a:r>
          </a:p>
          <a:p>
            <a:r>
              <a:rPr lang="en-US" dirty="0"/>
              <a:t>The project also addresses the psychological stress caused by disorganized job searching.</a:t>
            </a:r>
          </a:p>
        </p:txBody>
      </p:sp>
    </p:spTree>
    <p:extLst>
      <p:ext uri="{BB962C8B-B14F-4D97-AF65-F5344CB8AC3E}">
        <p14:creationId xmlns:p14="http://schemas.microsoft.com/office/powerpoint/2010/main" val="195702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3D82B-11D9-9E61-9BD6-6388F1ED6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E1D026-6B6B-9CDF-1096-9AB729BD7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8E75B-28CE-808B-5F74-F3DC42604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Autofit/>
          </a:bodyPr>
          <a:lstStyle/>
          <a:p>
            <a:pPr algn="ctr"/>
            <a:r>
              <a:rPr lang="en-IN" dirty="0"/>
              <a:t>Performance Analysis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97FE64E-E64C-32CD-62BD-C2C4F85A2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1BB6678-A8BA-5120-86DF-51B8EF4FD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344" y="2319634"/>
            <a:ext cx="5566132" cy="382252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5D1922-E203-750F-A054-511BE644AF06}"/>
              </a:ext>
            </a:extLst>
          </p:cNvPr>
          <p:cNvSpPr txBox="1">
            <a:spLocks/>
          </p:cNvSpPr>
          <p:nvPr/>
        </p:nvSpPr>
        <p:spPr>
          <a:xfrm>
            <a:off x="507207" y="1889390"/>
            <a:ext cx="5157787" cy="4302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Traditional excel way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6D12FF29-DBCF-9078-E3A7-0F18B6E4889C}"/>
              </a:ext>
            </a:extLst>
          </p:cNvPr>
          <p:cNvSpPr txBox="1">
            <a:spLocks/>
          </p:cNvSpPr>
          <p:nvPr/>
        </p:nvSpPr>
        <p:spPr>
          <a:xfrm>
            <a:off x="6241034" y="1794420"/>
            <a:ext cx="5183188" cy="6201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Job tracking application way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450FB1-313D-EF35-34C4-B06984360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034" y="2319634"/>
            <a:ext cx="5801360" cy="382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0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E24C13-EE9D-9226-8AC6-FAF29F52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2D3FFCA-741B-7E7D-3095-7FACF7B3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66CD8C-5618-52E5-7B8A-93A2CAFBE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Analytical Methods Used</a:t>
            </a:r>
            <a:endParaRPr lang="en-IN" sz="66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2B250F52-1FFA-7E00-BF65-18ACC0213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29E56-5B51-DA96-A2BA-0D603CA4C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Observation-based analysis</a:t>
            </a:r>
            <a:r>
              <a:rPr lang="en-US" dirty="0"/>
              <a:t> during sanity testing and user interaction.</a:t>
            </a:r>
          </a:p>
          <a:p>
            <a:r>
              <a:rPr lang="en-US" b="1" dirty="0"/>
              <a:t>Performance analysis</a:t>
            </a:r>
            <a:r>
              <a:rPr lang="en-US" dirty="0"/>
              <a:t> using task completion time, latency, and error-handling metrics.</a:t>
            </a:r>
          </a:p>
          <a:p>
            <a:r>
              <a:rPr lang="en-US" b="1" dirty="0"/>
              <a:t>Comparative analysis</a:t>
            </a:r>
            <a:r>
              <a:rPr lang="en-US" dirty="0"/>
              <a:t> between manual tracking and automated tracking.</a:t>
            </a:r>
          </a:p>
          <a:p>
            <a:r>
              <a:rPr lang="en-US" b="1" dirty="0"/>
              <a:t>Platform-wise analysis</a:t>
            </a:r>
            <a:r>
              <a:rPr lang="en-US" dirty="0"/>
              <a:t> for LinkedIn, Indeed, and other job portals.</a:t>
            </a:r>
          </a:p>
          <a:p>
            <a:r>
              <a:rPr lang="en-US" b="1" dirty="0"/>
              <a:t>Database and backend analysis</a:t>
            </a:r>
            <a:r>
              <a:rPr lang="en-US" dirty="0"/>
              <a:t> for response time, scalability, and consistency.</a:t>
            </a:r>
          </a:p>
        </p:txBody>
      </p:sp>
    </p:spTree>
    <p:extLst>
      <p:ext uri="{BB962C8B-B14F-4D97-AF65-F5344CB8AC3E}">
        <p14:creationId xmlns:p14="http://schemas.microsoft.com/office/powerpoint/2010/main" val="123172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9D014-A3FE-5B68-A340-C6D7D6875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3AE5070-3C17-5904-A131-0B7C21FFB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3C8A3-4396-0D25-71CE-53063FE8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Autofit/>
          </a:bodyPr>
          <a:lstStyle/>
          <a:p>
            <a:pPr algn="ctr"/>
            <a:r>
              <a:rPr lang="en-IN" sz="4000" dirty="0"/>
              <a:t>Analysis</a:t>
            </a:r>
            <a:r>
              <a:rPr lang="en-IN" sz="4000" i="1" dirty="0"/>
              <a:t> </a:t>
            </a:r>
            <a:r>
              <a:rPr lang="en-IN" sz="4000" dirty="0"/>
              <a:t>in</a:t>
            </a:r>
            <a:r>
              <a:rPr lang="en-IN" sz="4000" i="1" dirty="0"/>
              <a:t> </a:t>
            </a:r>
            <a:r>
              <a:rPr lang="en-US" sz="4000" dirty="0"/>
              <a:t>Table and Graphs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14536BB-0E2C-8C78-E5D4-9CE72DA2C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15EACA-8C0D-BE4E-BF4B-7BB657EB58B4}"/>
              </a:ext>
            </a:extLst>
          </p:cNvPr>
          <p:cNvSpPr txBox="1">
            <a:spLocks/>
          </p:cNvSpPr>
          <p:nvPr/>
        </p:nvSpPr>
        <p:spPr>
          <a:xfrm>
            <a:off x="507207" y="1889389"/>
            <a:ext cx="5631108" cy="723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Comparative Analysis of Data Entry Efficiency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C9E47C6-BE20-5580-E245-F52B56C041CF}"/>
              </a:ext>
            </a:extLst>
          </p:cNvPr>
          <p:cNvSpPr txBox="1">
            <a:spLocks/>
          </p:cNvSpPr>
          <p:nvPr/>
        </p:nvSpPr>
        <p:spPr>
          <a:xfrm>
            <a:off x="6241034" y="1794420"/>
            <a:ext cx="5524246" cy="8188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Comparative Analysis of Entry Speed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4F9ADF3-4E50-2FDF-0B7C-D56349272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367" y="2807033"/>
            <a:ext cx="5631109" cy="3156887"/>
          </a:xfrm>
          <a:prstGeom prst="rect">
            <a:avLst/>
          </a:prstGeom>
        </p:spPr>
      </p:pic>
      <p:pic>
        <p:nvPicPr>
          <p:cNvPr id="16" name="Picture 15" descr="A graph of entry method comparison&#10;&#10;AI-generated content may be incorrect.">
            <a:extLst>
              <a:ext uri="{FF2B5EF4-FFF2-40B4-BE49-F238E27FC236}">
                <a16:creationId xmlns:a16="http://schemas.microsoft.com/office/drawing/2014/main" id="{0170E7F7-FD8E-EDBB-DED8-D8C081878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034" y="2807032"/>
            <a:ext cx="5524246" cy="3156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093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31A0C-DBC3-920B-4074-223D5EE96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C1A7DF1-862F-D70F-85ED-8727F7657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C75B5-822A-3117-8E2D-8FA38CF74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Advantages</a:t>
            </a:r>
            <a:endParaRPr lang="en-IN" sz="80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16F0B9E-DB01-4294-1025-BF4931295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541C4-ABC4-4F15-048B-215ADCFD5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dirty="0"/>
              <a:t>Saves significant time compared to manual tracking.</a:t>
            </a:r>
          </a:p>
          <a:p>
            <a:r>
              <a:rPr lang="en-US" dirty="0"/>
              <a:t>Improves data-entry accuracy through auto-fill.</a:t>
            </a:r>
          </a:p>
          <a:p>
            <a:r>
              <a:rPr lang="en-US" dirty="0"/>
              <a:t>Provides real-time synchronization between extension and dashboard.</a:t>
            </a:r>
          </a:p>
          <a:p>
            <a:r>
              <a:rPr lang="en-US" dirty="0"/>
              <a:t>Keeps the UI stable on third-party websites using Shadow DOM.</a:t>
            </a:r>
          </a:p>
          <a:p>
            <a:r>
              <a:rPr lang="en-US" dirty="0"/>
              <a:t>Offers better organization and follow-up visibility for job seekers.</a:t>
            </a:r>
          </a:p>
          <a:p>
            <a:r>
              <a:rPr lang="en-US" dirty="0"/>
              <a:t>Supports structured, data-driven job-search management.</a:t>
            </a:r>
          </a:p>
        </p:txBody>
      </p:sp>
    </p:spTree>
    <p:extLst>
      <p:ext uri="{BB962C8B-B14F-4D97-AF65-F5344CB8AC3E}">
        <p14:creationId xmlns:p14="http://schemas.microsoft.com/office/powerpoint/2010/main" val="2133872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01AB9-2476-CC3F-3A55-7D7BD351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7BB2457-379A-DA76-60EB-A4C4EEB8A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A3ADF2-AB51-9427-8398-64532085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Autofit/>
          </a:bodyPr>
          <a:lstStyle/>
          <a:p>
            <a:pPr algn="ctr"/>
            <a:r>
              <a:rPr lang="en-IN" dirty="0"/>
              <a:t>Dashboard analytics</a:t>
            </a:r>
            <a:endParaRPr lang="en-US" sz="40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FE5CDDDA-974A-FF1D-964E-A896BC5B6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3B99EA-419B-E30C-1A2A-D23EE46652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036" y="1825624"/>
            <a:ext cx="10853927" cy="493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2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B67319-6DC0-7A2B-B594-4F1C7F8CE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C54D4AA-DD0C-9297-061B-81DC4CF21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7DF2F-8D9A-9EC6-D86A-A840BFB2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Risks / Limitations</a:t>
            </a:r>
            <a:endParaRPr lang="en-IN" sz="96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298951B-6DD9-EDED-3CBD-5F8023478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97E05-13ED-386F-459B-D22C68249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dirty="0"/>
              <a:t>Dynamic AJAX-based websites may delay or block scraping.</a:t>
            </a:r>
          </a:p>
          <a:p>
            <a:r>
              <a:rPr lang="en-US" dirty="0"/>
              <a:t>Salary extraction may fail when salary is shown as images or icons.</a:t>
            </a:r>
          </a:p>
          <a:p>
            <a:r>
              <a:rPr lang="en-US" dirty="0"/>
              <a:t>Extension visibility can vary on unusual page layouts.</a:t>
            </a:r>
          </a:p>
          <a:p>
            <a:r>
              <a:rPr lang="en-US" dirty="0"/>
              <a:t>Browser compatibility is currently focused mainly on Chrome.</a:t>
            </a:r>
          </a:p>
          <a:p>
            <a:r>
              <a:rPr lang="en-US" dirty="0"/>
              <a:t>Manifest V3 introduces more complex service-worker handling.</a:t>
            </a:r>
          </a:p>
          <a:p>
            <a:r>
              <a:rPr lang="en-US" dirty="0"/>
              <a:t>Very slow networks may delay cloud sync if local caching is not used.</a:t>
            </a:r>
          </a:p>
        </p:txBody>
      </p:sp>
    </p:spTree>
    <p:extLst>
      <p:ext uri="{BB962C8B-B14F-4D97-AF65-F5344CB8AC3E}">
        <p14:creationId xmlns:p14="http://schemas.microsoft.com/office/powerpoint/2010/main" val="1965129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A6EC6-9123-1FB3-D93F-B22A2CCF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A0508E-4E18-9310-7D51-D1DA85EB4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25248-5123-19EF-4C46-DFAF9651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Findings and Suggestions</a:t>
            </a:r>
            <a:endParaRPr lang="en-IN" sz="138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9D2B289-024B-EF6F-A388-9D3B56DD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6AC90-08E3-60F2-244F-A83ED1220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dirty="0"/>
              <a:t>Automation reduced tracking time significantly.</a:t>
            </a:r>
          </a:p>
          <a:p>
            <a:r>
              <a:rPr lang="en-US" dirty="0"/>
              <a:t>Structured platforms like LinkedIn gave the highest extraction success.</a:t>
            </a:r>
          </a:p>
          <a:p>
            <a:r>
              <a:rPr lang="en-US" dirty="0"/>
              <a:t>Real-time dashboard updates improved perceived performance.</a:t>
            </a:r>
          </a:p>
          <a:p>
            <a:r>
              <a:rPr lang="en-US" dirty="0"/>
              <a:t>Users preferred one-click save and auto-fill features.</a:t>
            </a:r>
          </a:p>
          <a:p>
            <a:r>
              <a:rPr lang="en-US" dirty="0"/>
              <a:t>Future improvements include </a:t>
            </a:r>
            <a:r>
              <a:rPr lang="en-US" dirty="0" err="1"/>
              <a:t>IndexedDB</a:t>
            </a:r>
            <a:r>
              <a:rPr lang="en-US" dirty="0"/>
              <a:t> caching, NLP summaries, follow-up reminders, and cross-browser support.</a:t>
            </a:r>
          </a:p>
        </p:txBody>
      </p:sp>
    </p:spTree>
    <p:extLst>
      <p:ext uri="{BB962C8B-B14F-4D97-AF65-F5344CB8AC3E}">
        <p14:creationId xmlns:p14="http://schemas.microsoft.com/office/powerpoint/2010/main" val="2063162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05849-6885-4D19-7392-3E26EC0E7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F44964E-AD0D-9A87-B418-9AA74CC22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48DD6-ADC6-55BA-CCD4-E45C32D9D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Hosted Application Details</a:t>
            </a:r>
            <a:endParaRPr lang="en-IN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7722282-B6A7-FE34-B194-9C590284E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B5EBC07-A940-386F-6700-1F83350A9F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289647"/>
              </p:ext>
            </p:extLst>
          </p:nvPr>
        </p:nvGraphicFramePr>
        <p:xfrm>
          <a:off x="838200" y="2055813"/>
          <a:ext cx="10684764" cy="3083408"/>
        </p:xfrm>
        <a:graphic>
          <a:graphicData uri="http://schemas.openxmlformats.org/drawingml/2006/table">
            <a:tbl>
              <a:tblPr/>
              <a:tblGrid>
                <a:gridCol w="2981960">
                  <a:extLst>
                    <a:ext uri="{9D8B030D-6E8A-4147-A177-3AD203B41FA5}">
                      <a16:colId xmlns:a16="http://schemas.microsoft.com/office/drawing/2014/main" val="1904084116"/>
                    </a:ext>
                  </a:extLst>
                </a:gridCol>
                <a:gridCol w="7702804">
                  <a:extLst>
                    <a:ext uri="{9D8B030D-6E8A-4147-A177-3AD203B41FA5}">
                      <a16:colId xmlns:a16="http://schemas.microsoft.com/office/drawing/2014/main" val="1637164385"/>
                    </a:ext>
                  </a:extLst>
                </a:gridCol>
              </a:tblGrid>
              <a:tr h="603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Component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Details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29461"/>
                  </a:ext>
                </a:extLst>
              </a:tr>
              <a:tr h="603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Project Status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Live and Hosted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485371"/>
                  </a:ext>
                </a:extLst>
              </a:tr>
              <a:tr h="603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UI Hosted URL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  <a:latin typeface="Courier New" panose="02070309020205020404" pitchFamily="49" charset="0"/>
                          <a:hlinkClick r:id="rId2"/>
                        </a:rPr>
                        <a:t>https://job-tracker-app-kohl-six.vercel.app/login</a:t>
                      </a:r>
                      <a:endParaRPr lang="en-IN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226937"/>
                  </a:ext>
                </a:extLst>
              </a:tr>
              <a:tr h="603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Backend Hosted URL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  <a:latin typeface="Courier New" panose="02070309020205020404" pitchFamily="49" charset="0"/>
                          <a:hlinkClick r:id="rId3"/>
                        </a:rPr>
                        <a:t>https://smart-job-tracker-api-w44d.onrender.com/api-docs/#/</a:t>
                      </a:r>
                      <a:endParaRPr lang="en-IN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016933"/>
                  </a:ext>
                </a:extLst>
              </a:tr>
              <a:tr h="6032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Chrome Extension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Job Tracker Pro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58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062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C192F-291D-5A79-3AAF-EF205C948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69C2E7-7DF3-0CB2-1685-7127AA21B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66B7B0-A7DD-2EDF-D808-2935D7A0B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Conclusion</a:t>
            </a:r>
            <a:endParaRPr lang="en-IN" sz="199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7434E74-B4FC-AFE8-2E4C-B610F27D0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3EBDA-C946-9A93-AA86-9FBB88B66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dirty="0"/>
              <a:t>The Smart Job Application Tracker successfully transforms a manual, chaotic process into an organized workflow.</a:t>
            </a:r>
          </a:p>
          <a:p>
            <a:r>
              <a:rPr lang="en-US" dirty="0"/>
              <a:t>The integration of Angular 18, Node.js, </a:t>
            </a:r>
            <a:r>
              <a:rPr lang="en-US" dirty="0" err="1"/>
              <a:t>Supabase</a:t>
            </a:r>
            <a:r>
              <a:rPr lang="en-US" dirty="0"/>
              <a:t>/PostgreSQL, and Chrome Extension automation proved effective.</a:t>
            </a:r>
          </a:p>
          <a:p>
            <a:r>
              <a:rPr lang="en-US" dirty="0"/>
              <a:t>The project demonstrates that automation improves efficiency, reduces error, and supports better decision-making for job seekers.</a:t>
            </a:r>
          </a:p>
          <a:p>
            <a:r>
              <a:rPr lang="en-US" dirty="0"/>
              <a:t>With further AI and browser-support enhancements, the system has strong potential for future growth.</a:t>
            </a:r>
          </a:p>
        </p:txBody>
      </p:sp>
    </p:spTree>
    <p:extLst>
      <p:ext uri="{BB962C8B-B14F-4D97-AF65-F5344CB8AC3E}">
        <p14:creationId xmlns:p14="http://schemas.microsoft.com/office/powerpoint/2010/main" val="3707464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6C2FC-D91A-9F88-9600-817EC4A9E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DFD42-C618-BF17-1DE5-0625DA30F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Smiling Face with No Fill">
            <a:extLst>
              <a:ext uri="{FF2B5EF4-FFF2-40B4-BE49-F238E27FC236}">
                <a16:creationId xmlns:a16="http://schemas.microsoft.com/office/drawing/2014/main" id="{45B82FF8-A5FA-8621-833B-85053FA50F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1299" y="2633472"/>
            <a:ext cx="3586353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7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</TotalTime>
  <Words>713</Words>
  <Application>Microsoft Office PowerPoint</Application>
  <PresentationFormat>Widescreen</PresentationFormat>
  <Paragraphs>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Aptos Display (Headings)</vt:lpstr>
      <vt:lpstr>Arial</vt:lpstr>
      <vt:lpstr>Courier New</vt:lpstr>
      <vt:lpstr>Office Theme</vt:lpstr>
      <vt:lpstr>PowerPoint Presentation</vt:lpstr>
      <vt:lpstr>Introduction</vt:lpstr>
      <vt:lpstr>Objectives</vt:lpstr>
      <vt:lpstr>Objectives</vt:lpstr>
      <vt:lpstr>Real-Time Dashboard View</vt:lpstr>
      <vt:lpstr>Why this project was done</vt:lpstr>
      <vt:lpstr>Performance Analysis</vt:lpstr>
      <vt:lpstr>Analytical Methods Used</vt:lpstr>
      <vt:lpstr>Analysis in Table and Graphs</vt:lpstr>
      <vt:lpstr>Advantages</vt:lpstr>
      <vt:lpstr>Dashboard analytics</vt:lpstr>
      <vt:lpstr>Risks / Limitations</vt:lpstr>
      <vt:lpstr>Findings and Suggestions</vt:lpstr>
      <vt:lpstr>Hosted Application Details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Sushil Gupta</dc:creator>
  <cp:lastModifiedBy>Suhel Gupta</cp:lastModifiedBy>
  <cp:revision>8</cp:revision>
  <dcterms:created xsi:type="dcterms:W3CDTF">2026-05-13T10:39:41Z</dcterms:created>
  <dcterms:modified xsi:type="dcterms:W3CDTF">2026-05-14T16:43:11Z</dcterms:modified>
</cp:coreProperties>
</file>